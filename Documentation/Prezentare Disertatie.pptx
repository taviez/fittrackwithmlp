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530" r:id="rId5"/>
    <p:sldId id="553" r:id="rId6"/>
    <p:sldId id="551" r:id="rId7"/>
    <p:sldId id="549" r:id="rId8"/>
    <p:sldId id="554" r:id="rId9"/>
    <p:sldId id="539" r:id="rId10"/>
    <p:sldId id="550" r:id="rId11"/>
    <p:sldId id="543" r:id="rId12"/>
    <p:sldId id="54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422"/>
  </p:normalViewPr>
  <p:slideViewPr>
    <p:cSldViewPr snapToGrid="0">
      <p:cViewPr varScale="1">
        <p:scale>
          <a:sx n="105" d="100"/>
          <a:sy n="105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6/14/2026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217" y="2312810"/>
            <a:ext cx="9921240" cy="1481328"/>
          </a:xfrm>
        </p:spPr>
        <p:txBody>
          <a:bodyPr/>
          <a:lstStyle/>
          <a:p>
            <a:r>
              <a:rPr lang="en-US" sz="4000" dirty="0" err="1"/>
              <a:t>Fittrac</a:t>
            </a:r>
            <a:r>
              <a:rPr lang="ro-RO" sz="4000" dirty="0"/>
              <a:t>K</a:t>
            </a:r>
            <a:br>
              <a:rPr lang="ro-RO" sz="4000" dirty="0"/>
            </a:br>
            <a:r>
              <a:rPr lang="en-US" sz="2800" dirty="0"/>
              <a:t>Automated meal plan generation via </a:t>
            </a:r>
            <a:r>
              <a:rPr lang="en-US" sz="2800" dirty="0" err="1"/>
              <a:t>mlp</a:t>
            </a:r>
            <a:r>
              <a:rPr lang="en-US" sz="2800" dirty="0"/>
              <a:t> classification and constrained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1844" y="4136817"/>
            <a:ext cx="7068312" cy="843556"/>
          </a:xfrm>
        </p:spPr>
        <p:txBody>
          <a:bodyPr/>
          <a:lstStyle/>
          <a:p>
            <a:r>
              <a:rPr lang="en-US" dirty="0"/>
              <a:t>Student: Octavian COSTE</a:t>
            </a:r>
          </a:p>
          <a:p>
            <a:r>
              <a:rPr lang="ro-RO" dirty="0"/>
              <a:t>Îndrumător:</a:t>
            </a:r>
            <a:r>
              <a:rPr lang="en-US" dirty="0"/>
              <a:t> </a:t>
            </a:r>
            <a:r>
              <a:rPr lang="en-US" dirty="0" err="1"/>
              <a:t>S.l.dr.ing</a:t>
            </a:r>
            <a:r>
              <a:rPr lang="en-US" dirty="0"/>
              <a:t>. Cristian AFLORI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23A51-9DA5-A190-29BC-885E4744E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48133-FC18-C865-9E83-81AD5233B8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Nutrition planning is a key factor in achieving personal fitness goals.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8AEEE3-1442-ABF7-7BF4-783F5F0F2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BBD4D-5538-3EF1-4647-DEC4228DB06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Existing tools offer generic plans that ignore individual physiological profiles and personal constraints.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56033-C434-FBFC-60B6-6A2A5686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3ED9B4-789A-4718-C927-32DD0DA5F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2E3238-859D-E248-F5C6-6D84D82B3EC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FitTrack</a:t>
            </a:r>
            <a:r>
              <a:rPr lang="en-US" dirty="0"/>
              <a:t> automates personalized meal plan generation by combining physiological data, MLP classification and constrained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34847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7704-9EE9-13CF-C9D6-241AC1968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8D4F-5E6D-8B8F-5E3F-AF0689DA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860BB1A-F00B-0C52-F24A-433FB3D1F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183188" y="1657446"/>
            <a:ext cx="6172200" cy="3533583"/>
          </a:xfrm>
          <a:prstGeom prst="rect">
            <a:avLst/>
          </a:prstGeo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C3646CA-0CC5-6022-7598-A420EB006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containerized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Independent databases per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Bearer JWT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Internal HTTP communication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E3F8D-4221-23FD-BCE4-26FB62132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9184" y="411480"/>
            <a:ext cx="521208" cy="3108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7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2522-4B44-2BE0-A849-39AE61C3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b">
            <a:normAutofit/>
          </a:bodyPr>
          <a:lstStyle/>
          <a:p>
            <a:r>
              <a:rPr lang="en-US" dirty="0"/>
              <a:t>Authentication &amp; security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00C3628-64B4-7DF1-2675-A0F43D30C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83" y="2222373"/>
            <a:ext cx="10881359" cy="3547872"/>
          </a:xfrm>
        </p:spPr>
        <p:txBody>
          <a:bodyPr/>
          <a:lstStyle/>
          <a:p>
            <a:r>
              <a:rPr lang="en-US" dirty="0"/>
              <a:t>Bearer JWT stored in memory – never persisted to </a:t>
            </a:r>
            <a:r>
              <a:rPr lang="en-US" dirty="0" err="1"/>
              <a:t>localStorage</a:t>
            </a:r>
            <a:endParaRPr lang="en-US" dirty="0"/>
          </a:p>
          <a:p>
            <a:r>
              <a:rPr lang="en-US" dirty="0"/>
              <a:t>Short-lived access tokens minimize stolen token damage window</a:t>
            </a:r>
          </a:p>
          <a:p>
            <a:r>
              <a:rPr lang="en-US" dirty="0"/>
              <a:t>Refresh token stored server-side in DB and transmitted via </a:t>
            </a:r>
            <a:r>
              <a:rPr lang="en-US" dirty="0" err="1"/>
              <a:t>HttpOnly</a:t>
            </a:r>
            <a:r>
              <a:rPr lang="en-US" dirty="0"/>
              <a:t> cookie – inaccessible to JavaScript</a:t>
            </a:r>
          </a:p>
          <a:p>
            <a:r>
              <a:rPr lang="en-US" dirty="0"/>
              <a:t>Refresh token rotation – replace token on refresh</a:t>
            </a:r>
          </a:p>
          <a:p>
            <a:r>
              <a:rPr lang="en-US" dirty="0"/>
              <a:t>CSRF attacks not applicable – Bearer header is sent by the React App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D48AB-FF5C-C55D-C71C-1C96518DE4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29184" y="411480"/>
            <a:ext cx="521208" cy="3108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4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D922-9B80-B8FA-C908-6F92B78D9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4ABD-427D-F5FA-1C88-B6F77812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</p:spPr>
        <p:txBody>
          <a:bodyPr anchor="ctr">
            <a:normAutofit/>
          </a:bodyPr>
          <a:lstStyle/>
          <a:p>
            <a:r>
              <a:rPr lang="en-US" dirty="0"/>
              <a:t>Optimizer service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7905E54-9860-9336-9F33-05DE13969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MLP Classifier</a:t>
            </a:r>
          </a:p>
          <a:p>
            <a:pPr marL="457200" indent="-457200"/>
            <a:r>
              <a:rPr lang="en-US" dirty="0"/>
              <a:t>Pre-trained neural network for meal selection</a:t>
            </a:r>
          </a:p>
          <a:p>
            <a:pPr marL="457200" indent="-457200"/>
            <a:r>
              <a:rPr lang="en-US" dirty="0"/>
              <a:t>Input: calorie target, protein target, minimum fat</a:t>
            </a:r>
          </a:p>
          <a:p>
            <a:pPr marL="457200" indent="-457200"/>
            <a:r>
              <a:rPr lang="en-US" dirty="0"/>
              <a:t>Output: top K most suitable meal ID’s</a:t>
            </a:r>
          </a:p>
          <a:p>
            <a:pPr marL="457200" indent="-457200"/>
            <a:r>
              <a:rPr lang="en-US" dirty="0"/>
              <a:t>Trained offline, loaded at service startup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3">
                <a:extLst>
                  <a:ext uri="{FF2B5EF4-FFF2-40B4-BE49-F238E27FC236}">
                    <a16:creationId xmlns:a16="http://schemas.microsoft.com/office/drawing/2014/main" id="{7F57919F-8B99-3B1E-77D7-1F9C4F3E9A1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916166" y="1825625"/>
                <a:ext cx="627583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Meal Optimizer (SLSQP)</a:t>
                </a:r>
              </a:p>
              <a:p>
                <a:pPr marL="457200" indent="-457200"/>
                <a:r>
                  <a:rPr lang="en-US" dirty="0"/>
                  <a:t>Determines optimal ingredient portion sizes </a:t>
                </a:r>
              </a:p>
              <a:p>
                <a:pPr marL="457200" indent="-457200"/>
                <a:r>
                  <a:rPr lang="en-US" dirty="0"/>
                  <a:t>Enforces minimum fat constraint</a:t>
                </a:r>
              </a:p>
              <a:p>
                <a:pPr marL="457200" indent="-457200"/>
                <a:r>
                  <a:rPr lang="en-US" dirty="0"/>
                  <a:t>Category-specific bounds per ingredient (Dairy: 30-300g)</a:t>
                </a:r>
              </a:p>
              <a:p>
                <a:pPr marL="457200" indent="-457200"/>
                <a:r>
                  <a:rPr lang="en-US" dirty="0"/>
                  <a:t>Objective function: 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4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/>
                          <m:t>min</m:t>
                        </m:r>
                      </m:fName>
                      <m:e>
                        <m:r>
                          <m:rPr>
                            <m:nor/>
                          </m:rPr>
                          <a:rPr lang="en-US" sz="2400" i="1"/>
                          <m:t> </m:t>
                        </m:r>
                      </m:e>
                    </m:func>
                    <m:sSup>
                      <m:sSupPr>
                        <m:ctrlPr>
                          <a:rPr lang="en-US" sz="2400" i="1"/>
                        </m:ctrlPr>
                      </m:sSupPr>
                      <m:e>
                        <m:d>
                          <m:dPr>
                            <m:ctrlPr>
                              <a:rPr lang="en-US" sz="2400" i="1"/>
                            </m:ctrlPr>
                          </m:dPr>
                          <m:e>
                            <m:r>
                              <a:rPr lang="en-US" sz="2400" i="1"/>
                              <m:t>𝑐𝑎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𝑙</m:t>
                                </m:r>
                              </m:e>
                              <m:sub>
                                <m:r>
                                  <a:rPr lang="en-US" sz="2400" i="1"/>
                                  <m:t>𝑐𝑢𝑟𝑟𝑒𝑛𝑡</m:t>
                                </m:r>
                              </m:sub>
                            </m:sSub>
                            <m:r>
                              <a:rPr lang="en-US" sz="2400"/>
                              <m:t>−</m:t>
                            </m:r>
                            <m:r>
                              <a:rPr lang="en-US" sz="2400" i="1"/>
                              <m:t>𝑐𝑎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𝑙</m:t>
                                </m:r>
                              </m:e>
                              <m:sub>
                                <m:r>
                                  <a:rPr lang="en-US" sz="2400" i="1"/>
                                  <m:t>𝑡𝑎𝑟𝑔𝑒𝑡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/>
                          <m:t>2</m:t>
                        </m:r>
                      </m:sup>
                    </m:sSup>
                    <m:r>
                      <a:rPr lang="en-US" sz="2400"/>
                      <m:t>+2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/>
                      <m:t>×</m:t>
                    </m:r>
                    <m:sSup>
                      <m:sSupPr>
                        <m:ctrlPr>
                          <a:rPr lang="en-US" sz="2400" i="1" smtClean="0"/>
                        </m:ctrlPr>
                      </m:sSupPr>
                      <m:e>
                        <m:d>
                          <m:dPr>
                            <m:ctrlPr>
                              <a:rPr lang="en-US" sz="2400" i="1"/>
                            </m:ctrlPr>
                          </m:dPr>
                          <m:e>
                            <m:r>
                              <a:rPr lang="en-US" sz="2400" i="1"/>
                              <m:t>𝑝𝑟𝑜𝑡𝑒𝑖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𝑛</m:t>
                                </m:r>
                              </m:e>
                              <m:sub>
                                <m:r>
                                  <a:rPr lang="en-US" sz="2400" i="1"/>
                                  <m:t>𝑐𝑢𝑟𝑟𝑒𝑛𝑡</m:t>
                                </m:r>
                              </m:sub>
                            </m:sSub>
                            <m:r>
                              <a:rPr lang="en-US" sz="2400"/>
                              <m:t>−</m:t>
                            </m:r>
                            <m:r>
                              <a:rPr lang="en-US" sz="2400" i="1"/>
                              <m:t>𝑝𝑟𝑜𝑡𝑒𝑖</m:t>
                            </m:r>
                            <m:sSub>
                              <m:sSubPr>
                                <m:ctrlPr>
                                  <a:rPr lang="en-US" sz="2400" i="1"/>
                                </m:ctrlPr>
                              </m:sSubPr>
                              <m:e>
                                <m:r>
                                  <a:rPr lang="en-US" sz="2400" i="1"/>
                                  <m:t>𝑛</m:t>
                                </m:r>
                              </m:e>
                              <m:sub>
                                <m:r>
                                  <a:rPr lang="en-US" sz="2400" i="1"/>
                                  <m:t>𝑡𝑎𝑟𝑔𝑒𝑡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/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8" name="Content Placeholder 3">
                <a:extLst>
                  <a:ext uri="{FF2B5EF4-FFF2-40B4-BE49-F238E27FC236}">
                    <a16:creationId xmlns:a16="http://schemas.microsoft.com/office/drawing/2014/main" id="{7F57919F-8B99-3B1E-77D7-1F9C4F3E9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916166" y="1825625"/>
                <a:ext cx="6275834" cy="4351338"/>
              </a:xfrm>
              <a:blipFill>
                <a:blip r:embed="rId2"/>
                <a:stretch>
                  <a:fillRect l="-194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48FEA-22C4-8EA8-1175-24DEF91E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9184" y="411480"/>
            <a:ext cx="521208" cy="3108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8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implementations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0852F-3FB7-6D2E-F6AC-1F6B9CAD2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2646808"/>
            <a:ext cx="2016633" cy="681608"/>
          </a:xfrm>
        </p:spPr>
        <p:txBody>
          <a:bodyPr/>
          <a:lstStyle/>
          <a:p>
            <a:r>
              <a:rPr lang="en-US" sz="2000" dirty="0"/>
              <a:t>Microservices architecture</a:t>
            </a:r>
          </a:p>
          <a:p>
            <a:endParaRPr lang="en-US" sz="20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5612" y="3456432"/>
            <a:ext cx="2864358" cy="2578608"/>
          </a:xfrm>
        </p:spPr>
        <p:txBody>
          <a:bodyPr/>
          <a:lstStyle/>
          <a:p>
            <a:r>
              <a:rPr lang="it-IT" sz="1400" dirty="0"/>
              <a:t>Utilizatorii își pot crea conturi, autentifica, și accesa funcționalitățile personalizate ale aplicației.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D1CFC88-675A-D1A7-A025-889ADE42DC79}"/>
              </a:ext>
            </a:extLst>
          </p:cNvPr>
          <p:cNvSpPr txBox="1">
            <a:spLocks/>
          </p:cNvSpPr>
          <p:nvPr/>
        </p:nvSpPr>
        <p:spPr>
          <a:xfrm>
            <a:off x="3803904" y="2646807"/>
            <a:ext cx="2111121" cy="7700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Shared Project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134531FF-50FC-F3CF-9DCE-15FA5FBBBD60}"/>
              </a:ext>
            </a:extLst>
          </p:cNvPr>
          <p:cNvSpPr txBox="1">
            <a:spLocks/>
          </p:cNvSpPr>
          <p:nvPr/>
        </p:nvSpPr>
        <p:spPr>
          <a:xfrm>
            <a:off x="3569970" y="3426333"/>
            <a:ext cx="2864358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Utilizatorii</a:t>
            </a:r>
            <a:r>
              <a:rPr lang="en-US" sz="1400" dirty="0"/>
              <a:t> pot </a:t>
            </a:r>
            <a:r>
              <a:rPr lang="en-US" sz="1400" dirty="0" err="1"/>
              <a:t>crea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gestiona</a:t>
            </a:r>
            <a:r>
              <a:rPr lang="en-US" sz="1400" dirty="0"/>
              <a:t> workout split-</a:t>
            </a:r>
            <a:r>
              <a:rPr lang="en-US" sz="1400" dirty="0" err="1"/>
              <a:t>uri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workout-</a:t>
            </a:r>
            <a:r>
              <a:rPr lang="en-US" sz="1400" dirty="0" err="1"/>
              <a:t>uri</a:t>
            </a:r>
            <a:r>
              <a:rPr lang="en-US" sz="1400" dirty="0"/>
              <a:t>, </a:t>
            </a:r>
            <a:r>
              <a:rPr lang="en-US" sz="1400" dirty="0" err="1"/>
              <a:t>adăuga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șterge</a:t>
            </a:r>
            <a:r>
              <a:rPr lang="en-US" sz="1400" dirty="0"/>
              <a:t> </a:t>
            </a:r>
            <a:r>
              <a:rPr lang="en-US" sz="1400" dirty="0" err="1"/>
              <a:t>exerciții</a:t>
            </a:r>
            <a:r>
              <a:rPr lang="en-US" sz="1400" dirty="0"/>
              <a:t>,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marca</a:t>
            </a:r>
            <a:r>
              <a:rPr lang="en-US" sz="1400" dirty="0"/>
              <a:t> </a:t>
            </a:r>
            <a:r>
              <a:rPr lang="en-US" sz="1400" dirty="0" err="1"/>
              <a:t>antrenamentele</a:t>
            </a:r>
            <a:r>
              <a:rPr lang="en-US" sz="1400" dirty="0"/>
              <a:t> ca </a:t>
            </a:r>
            <a:r>
              <a:rPr lang="en-US" sz="1400" dirty="0" err="1"/>
              <a:t>fiind</a:t>
            </a:r>
            <a:r>
              <a:rPr lang="en-US" sz="1400" dirty="0"/>
              <a:t> </a:t>
            </a:r>
            <a:r>
              <a:rPr lang="en-US" sz="1400" dirty="0" err="1"/>
              <a:t>finalizate</a:t>
            </a:r>
            <a:r>
              <a:rPr lang="en-US" sz="1400" dirty="0"/>
              <a:t>.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650BB5D-1C24-4D9B-5904-AE165D00515A}"/>
              </a:ext>
            </a:extLst>
          </p:cNvPr>
          <p:cNvSpPr txBox="1">
            <a:spLocks/>
          </p:cNvSpPr>
          <p:nvPr/>
        </p:nvSpPr>
        <p:spPr>
          <a:xfrm>
            <a:off x="6743318" y="2646807"/>
            <a:ext cx="2244471" cy="7700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Nutrition snapshot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132DCFF9-2F4C-A930-2847-CA829269AC01}"/>
              </a:ext>
            </a:extLst>
          </p:cNvPr>
          <p:cNvSpPr txBox="1">
            <a:spLocks/>
          </p:cNvSpPr>
          <p:nvPr/>
        </p:nvSpPr>
        <p:spPr>
          <a:xfrm>
            <a:off x="6434328" y="3416808"/>
            <a:ext cx="2862453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Utilizatorii</a:t>
            </a:r>
            <a:r>
              <a:rPr lang="en-US" sz="1400" dirty="0"/>
              <a:t> pot selecta </a:t>
            </a:r>
            <a:r>
              <a:rPr lang="en-US" sz="1400" dirty="0" err="1"/>
              <a:t>grupuri</a:t>
            </a:r>
            <a:r>
              <a:rPr lang="en-US" sz="1400" dirty="0"/>
              <a:t> </a:t>
            </a:r>
            <a:r>
              <a:rPr lang="en-US" sz="1400" dirty="0" err="1"/>
              <a:t>musculare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a </a:t>
            </a:r>
            <a:r>
              <a:rPr lang="en-US" sz="1400" dirty="0" err="1"/>
              <a:t>vedea</a:t>
            </a:r>
            <a:r>
              <a:rPr lang="en-US" sz="1400" dirty="0"/>
              <a:t> </a:t>
            </a:r>
            <a:r>
              <a:rPr lang="en-US" sz="1400" dirty="0" err="1"/>
              <a:t>exercițiile</a:t>
            </a:r>
            <a:r>
              <a:rPr lang="en-US" sz="1400" dirty="0"/>
              <a:t> </a:t>
            </a:r>
            <a:r>
              <a:rPr lang="en-US" sz="1400" dirty="0" err="1"/>
              <a:t>asociate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a-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crea</a:t>
            </a:r>
            <a:r>
              <a:rPr lang="en-US" sz="1400" dirty="0"/>
              <a:t> </a:t>
            </a:r>
            <a:r>
              <a:rPr lang="en-US" sz="1400" dirty="0" err="1"/>
              <a:t>antrenamente</a:t>
            </a:r>
            <a:r>
              <a:rPr lang="en-US" sz="1400" dirty="0"/>
              <a:t> </a:t>
            </a:r>
            <a:r>
              <a:rPr lang="en-US" sz="1400" dirty="0" err="1"/>
              <a:t>eficiente</a:t>
            </a:r>
            <a:r>
              <a:rPr lang="en-US" sz="1400" dirty="0"/>
              <a:t>.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2F4546B-EED3-BFA2-44BE-A60EEFDCA0EC}"/>
              </a:ext>
            </a:extLst>
          </p:cNvPr>
          <p:cNvSpPr txBox="1">
            <a:spLocks/>
          </p:cNvSpPr>
          <p:nvPr/>
        </p:nvSpPr>
        <p:spPr>
          <a:xfrm>
            <a:off x="9296779" y="2686431"/>
            <a:ext cx="2953512" cy="7700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Embedded SQLite</a:t>
            </a:r>
          </a:p>
        </p:txBody>
      </p: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E1B38369-7F5A-D1D9-75BB-9A91079ECE77}"/>
              </a:ext>
            </a:extLst>
          </p:cNvPr>
          <p:cNvSpPr txBox="1">
            <a:spLocks/>
          </p:cNvSpPr>
          <p:nvPr/>
        </p:nvSpPr>
        <p:spPr>
          <a:xfrm>
            <a:off x="9238488" y="3456432"/>
            <a:ext cx="2953512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Utilizatorii</a:t>
            </a:r>
            <a:r>
              <a:rPr lang="en-US" sz="1400" dirty="0"/>
              <a:t> pot </a:t>
            </a:r>
            <a:r>
              <a:rPr lang="en-US" sz="1400" dirty="0" err="1"/>
              <a:t>vizualiza</a:t>
            </a:r>
            <a:r>
              <a:rPr lang="en-US" sz="1400" dirty="0"/>
              <a:t> </a:t>
            </a:r>
            <a:r>
              <a:rPr lang="en-US" sz="1400" dirty="0" err="1"/>
              <a:t>rapoarte</a:t>
            </a:r>
            <a:r>
              <a:rPr lang="en-US" sz="1400" dirty="0"/>
              <a:t> </a:t>
            </a:r>
            <a:r>
              <a:rPr lang="en-US" sz="1400" dirty="0" err="1"/>
              <a:t>detaliate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grafice</a:t>
            </a:r>
            <a:r>
              <a:rPr lang="en-US" sz="1400" dirty="0"/>
              <a:t> de </a:t>
            </a:r>
            <a:r>
              <a:rPr lang="en-US" sz="1400" dirty="0" err="1"/>
              <a:t>progres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exercițiile</a:t>
            </a:r>
            <a:r>
              <a:rPr lang="en-US" sz="1400" dirty="0"/>
              <a:t> </a:t>
            </a:r>
            <a:r>
              <a:rPr lang="en-US" sz="1400" dirty="0" err="1"/>
              <a:t>efectuate</a:t>
            </a:r>
            <a:r>
              <a:rPr lang="en-US" sz="1400" dirty="0"/>
              <a:t>, </a:t>
            </a:r>
            <a:r>
              <a:rPr lang="en-US" sz="1400" dirty="0" err="1"/>
              <a:t>folosind</a:t>
            </a:r>
            <a:r>
              <a:rPr lang="en-US" sz="1400" dirty="0"/>
              <a:t> un control de calendar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selectarea</a:t>
            </a:r>
            <a:r>
              <a:rPr lang="en-US" sz="1400" dirty="0"/>
              <a:t> </a:t>
            </a:r>
            <a:r>
              <a:rPr lang="en-US" sz="1400" dirty="0" err="1"/>
              <a:t>perioadei</a:t>
            </a:r>
            <a:r>
              <a:rPr lang="en-US" sz="1400" dirty="0"/>
              <a:t> de </a:t>
            </a:r>
            <a:r>
              <a:rPr lang="en-US" sz="1400" dirty="0" err="1"/>
              <a:t>interes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65F12-645A-7381-C6C6-467DE4B3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5ABF-051F-A58E-81C8-8B64CB9E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887" y="667512"/>
            <a:ext cx="7896225" cy="657225"/>
          </a:xfrm>
        </p:spPr>
        <p:txBody>
          <a:bodyPr/>
          <a:lstStyle/>
          <a:p>
            <a:r>
              <a:rPr lang="en-US" dirty="0"/>
              <a:t>Application screenshots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D25AA-7BD9-ECB3-59E8-25336C4C1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81200" y="1716405"/>
            <a:ext cx="8229600" cy="342519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816B2-F76D-53D8-131D-8ABD8B3A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51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Results &amp; conclusions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FitTrack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este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o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aplicație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puternică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și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versatilă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pentru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gestionarea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antrenamentelor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de fitness.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Prin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utilizarea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unor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tehnologii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moderne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și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a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unei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planificări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riguroase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aplicația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oferă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o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soluție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completă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pentru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monitorizarea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și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îmbunătățirea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performanțelor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976" y="2157984"/>
            <a:ext cx="4718304" cy="1069848"/>
          </a:xfrm>
        </p:spPr>
        <p:txBody>
          <a:bodyPr/>
          <a:lstStyle/>
          <a:p>
            <a:r>
              <a:rPr lang="en-US" sz="4800" b="1" spc="600" dirty="0" err="1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Q&amp;a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9363" y="3374136"/>
            <a:ext cx="5531765" cy="656326"/>
          </a:xfrm>
        </p:spPr>
        <p:txBody>
          <a:bodyPr/>
          <a:lstStyle/>
          <a:p>
            <a:pPr algn="l"/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Thanks for your attention!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334</TotalTime>
  <Words>356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Courier New</vt:lpstr>
      <vt:lpstr>Segoe UI Light</vt:lpstr>
      <vt:lpstr>Tw Cen MT</vt:lpstr>
      <vt:lpstr>Office Theme</vt:lpstr>
      <vt:lpstr>FittracK Automated meal plan generation via mlp classification and constrained optimization</vt:lpstr>
      <vt:lpstr>PowerPoint Presentation</vt:lpstr>
      <vt:lpstr>System architecture</vt:lpstr>
      <vt:lpstr>Authentication &amp; security</vt:lpstr>
      <vt:lpstr>Optimizer service</vt:lpstr>
      <vt:lpstr>Key implementations</vt:lpstr>
      <vt:lpstr>Application screenshots</vt:lpstr>
      <vt:lpstr>Results &amp; conclusions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Licenta Coste Octavian</dc:title>
  <dc:creator>Octavian Coste</dc:creator>
  <cp:lastModifiedBy>Octavian Coste</cp:lastModifiedBy>
  <cp:revision>124</cp:revision>
  <dcterms:created xsi:type="dcterms:W3CDTF">2024-06-29T14:43:15Z</dcterms:created>
  <dcterms:modified xsi:type="dcterms:W3CDTF">2026-06-14T17:30:37Z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